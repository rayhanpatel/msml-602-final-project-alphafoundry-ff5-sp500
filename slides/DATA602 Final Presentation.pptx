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
      <p:font typeface="Maven Pro"/>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avenPro-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venPro-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05a58ef08_0_2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b05a58ef08_0_2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05a58ef08_0_2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05a58ef08_0_2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Everyone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05a58ef08_0_2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b05a58ef08_0_2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12d3950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12d3950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07fe9b70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b07fe9b70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05a58ef08_0_2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05a58ef08_0_2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12d39506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b12d39506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Rayhan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b12d39506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b12d39506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Rayhan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12d39506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12d39506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Rayhan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b12d39506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b12d39506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Rayhan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b12d39506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b12d39506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05a58ef08_0_2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05a58ef08_0_2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081e90a2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081e90a2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12d39506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12d39506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12d39506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b12d39506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b081e90a2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b081e90a2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Govind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05a58ef08_0_2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05a58ef08_0_2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b05a58ef08_0_2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b05a58ef08_0_2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775900" y="1103888"/>
            <a:ext cx="4255500" cy="18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440"/>
              <a:t>Factor-Based Portfolio Strategy Using Fama–French Five Factors</a:t>
            </a:r>
            <a:endParaRPr sz="2440"/>
          </a:p>
        </p:txBody>
      </p:sp>
      <p:sp>
        <p:nvSpPr>
          <p:cNvPr id="278" name="Google Shape;278;p13"/>
          <p:cNvSpPr txBox="1"/>
          <p:nvPr>
            <p:ph idx="1" type="subTitle"/>
          </p:nvPr>
        </p:nvSpPr>
        <p:spPr>
          <a:xfrm>
            <a:off x="775900" y="2976800"/>
            <a:ext cx="3613800" cy="904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DATA 602 – Principles of Data Science</a:t>
            </a:r>
            <a:endParaRPr/>
          </a:p>
          <a:p>
            <a:pPr indent="0" lvl="0" marL="0" rtl="0" algn="l">
              <a:spcBef>
                <a:spcPts val="0"/>
              </a:spcBef>
              <a:spcAft>
                <a:spcPts val="0"/>
              </a:spcAft>
              <a:buNone/>
            </a:pPr>
            <a:r>
              <a:rPr lang="en"/>
              <a:t>Semester: Fall 2025</a:t>
            </a:r>
            <a:endParaRPr/>
          </a:p>
          <a:p>
            <a:pPr indent="0" lvl="0" marL="0" rtl="0" algn="l">
              <a:spcBef>
                <a:spcPts val="0"/>
              </a:spcBef>
              <a:spcAft>
                <a:spcPts val="0"/>
              </a:spcAft>
              <a:buNone/>
            </a:pPr>
            <a:r>
              <a:rPr lang="en"/>
              <a:t>Instructor: Dr. Fardina Alam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Introductions</a:t>
            </a:r>
            <a:endParaRPr/>
          </a:p>
        </p:txBody>
      </p:sp>
      <p:sp>
        <p:nvSpPr>
          <p:cNvPr id="284" name="Google Shape;284;p14"/>
          <p:cNvSpPr txBox="1"/>
          <p:nvPr/>
        </p:nvSpPr>
        <p:spPr>
          <a:xfrm>
            <a:off x="1259700" y="1954200"/>
            <a:ext cx="1968900" cy="117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Rayhan Patel</a:t>
            </a:r>
            <a:endParaRPr sz="1800">
              <a:solidFill>
                <a:schemeClr val="dk2"/>
              </a:solidFill>
            </a:endParaRPr>
          </a:p>
          <a:p>
            <a:pPr indent="0" lvl="0" marL="0" rtl="0" algn="ctr">
              <a:spcBef>
                <a:spcPts val="0"/>
              </a:spcBef>
              <a:spcAft>
                <a:spcPts val="0"/>
              </a:spcAft>
              <a:buNone/>
            </a:pPr>
            <a:r>
              <a:rPr lang="en" sz="1800">
                <a:solidFill>
                  <a:schemeClr val="dk2"/>
                </a:solidFill>
              </a:rPr>
              <a:t>UID: 122087934</a:t>
            </a:r>
            <a:endParaRPr sz="1800">
              <a:solidFill>
                <a:schemeClr val="dk2"/>
              </a:solidFill>
            </a:endParaRPr>
          </a:p>
          <a:p>
            <a:pPr indent="0" lvl="0" marL="0" rtl="0" algn="ctr">
              <a:spcBef>
                <a:spcPts val="0"/>
              </a:spcBef>
              <a:spcAft>
                <a:spcPts val="0"/>
              </a:spcAft>
              <a:buNone/>
            </a:pPr>
            <a:r>
              <a:rPr lang="en" sz="1800">
                <a:solidFill>
                  <a:schemeClr val="dk2"/>
                </a:solidFill>
              </a:rPr>
              <a:t>Applied ML</a:t>
            </a:r>
            <a:endParaRPr sz="1800">
              <a:solidFill>
                <a:schemeClr val="dk2"/>
              </a:solidFill>
            </a:endParaRPr>
          </a:p>
        </p:txBody>
      </p:sp>
      <p:sp>
        <p:nvSpPr>
          <p:cNvPr id="285" name="Google Shape;285;p14"/>
          <p:cNvSpPr txBox="1"/>
          <p:nvPr/>
        </p:nvSpPr>
        <p:spPr>
          <a:xfrm>
            <a:off x="3543750" y="1954200"/>
            <a:ext cx="1878000" cy="117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Govind Singhal</a:t>
            </a:r>
            <a:endParaRPr sz="1800">
              <a:solidFill>
                <a:schemeClr val="dk2"/>
              </a:solidFill>
            </a:endParaRPr>
          </a:p>
          <a:p>
            <a:pPr indent="0" lvl="0" marL="0" rtl="0" algn="ctr">
              <a:spcBef>
                <a:spcPts val="0"/>
              </a:spcBef>
              <a:spcAft>
                <a:spcPts val="0"/>
              </a:spcAft>
              <a:buNone/>
            </a:pPr>
            <a:r>
              <a:rPr lang="en" sz="1800">
                <a:solidFill>
                  <a:schemeClr val="dk2"/>
                </a:solidFill>
              </a:rPr>
              <a:t>UID: 117780413</a:t>
            </a:r>
            <a:endParaRPr sz="1800">
              <a:solidFill>
                <a:schemeClr val="dk2"/>
              </a:solidFill>
            </a:endParaRPr>
          </a:p>
          <a:p>
            <a:pPr indent="0" lvl="0" marL="0" rtl="0" algn="ctr">
              <a:spcBef>
                <a:spcPts val="0"/>
              </a:spcBef>
              <a:spcAft>
                <a:spcPts val="0"/>
              </a:spcAft>
              <a:buNone/>
            </a:pPr>
            <a:r>
              <a:rPr lang="en" sz="1800">
                <a:solidFill>
                  <a:schemeClr val="dk2"/>
                </a:solidFill>
              </a:rPr>
              <a:t>Applied ML</a:t>
            </a:r>
            <a:endParaRPr sz="1800">
              <a:solidFill>
                <a:schemeClr val="dk2"/>
              </a:solidFill>
            </a:endParaRPr>
          </a:p>
        </p:txBody>
      </p:sp>
      <p:sp>
        <p:nvSpPr>
          <p:cNvPr id="286" name="Google Shape;286;p14"/>
          <p:cNvSpPr txBox="1"/>
          <p:nvPr/>
        </p:nvSpPr>
        <p:spPr>
          <a:xfrm>
            <a:off x="5558400" y="1954200"/>
            <a:ext cx="2325900" cy="12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Chaithanya M</a:t>
            </a:r>
            <a:endParaRPr sz="1800">
              <a:solidFill>
                <a:schemeClr val="dk2"/>
              </a:solidFill>
            </a:endParaRPr>
          </a:p>
          <a:p>
            <a:pPr indent="0" lvl="0" marL="0" rtl="0" algn="ctr">
              <a:spcBef>
                <a:spcPts val="0"/>
              </a:spcBef>
              <a:spcAft>
                <a:spcPts val="0"/>
              </a:spcAft>
              <a:buNone/>
            </a:pPr>
            <a:r>
              <a:rPr lang="en" sz="1800">
                <a:solidFill>
                  <a:schemeClr val="dk2"/>
                </a:solidFill>
              </a:rPr>
              <a:t>UID: 122257672</a:t>
            </a:r>
            <a:endParaRPr sz="1800">
              <a:solidFill>
                <a:schemeClr val="dk2"/>
              </a:solidFill>
            </a:endParaRPr>
          </a:p>
          <a:p>
            <a:pPr indent="0" lvl="0" marL="0" rtl="0" algn="ctr">
              <a:spcBef>
                <a:spcPts val="0"/>
              </a:spcBef>
              <a:spcAft>
                <a:spcPts val="0"/>
              </a:spcAft>
              <a:buNone/>
            </a:pPr>
            <a:r>
              <a:rPr lang="en" sz="1800">
                <a:solidFill>
                  <a:schemeClr val="dk2"/>
                </a:solidFill>
              </a:rPr>
              <a:t>Applied ML</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Summary</a:t>
            </a:r>
            <a:endParaRPr/>
          </a:p>
        </p:txBody>
      </p:sp>
      <p:sp>
        <p:nvSpPr>
          <p:cNvPr id="292" name="Google Shape;292;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Problem Statement: </a:t>
            </a:r>
            <a:endParaRPr b="1"/>
          </a:p>
          <a:p>
            <a:pPr indent="-298450" lvl="1" marL="914400" rtl="0" algn="l">
              <a:spcBef>
                <a:spcPts val="0"/>
              </a:spcBef>
              <a:spcAft>
                <a:spcPts val="0"/>
              </a:spcAft>
              <a:buSzPts val="1100"/>
              <a:buChar char="○"/>
            </a:pPr>
            <a:r>
              <a:rPr lang="en"/>
              <a:t>Can factor-based investment strategies outperform a passive market benchmark using realistic evaluation methods?</a:t>
            </a:r>
            <a:endParaRPr/>
          </a:p>
          <a:p>
            <a:pPr indent="-311150" lvl="0" marL="457200" rtl="0" algn="l">
              <a:spcBef>
                <a:spcPts val="0"/>
              </a:spcBef>
              <a:spcAft>
                <a:spcPts val="0"/>
              </a:spcAft>
              <a:buSzPts val="1300"/>
              <a:buChar char="●"/>
            </a:pPr>
            <a:r>
              <a:rPr b="1" lang="en"/>
              <a:t>Context: </a:t>
            </a:r>
            <a:endParaRPr b="1"/>
          </a:p>
          <a:p>
            <a:pPr indent="-298450" lvl="1" marL="914400" rtl="0" algn="l">
              <a:spcBef>
                <a:spcPts val="0"/>
              </a:spcBef>
              <a:spcAft>
                <a:spcPts val="0"/>
              </a:spcAft>
              <a:buSzPts val="1100"/>
              <a:buChar char="○"/>
            </a:pPr>
            <a:r>
              <a:rPr lang="en"/>
              <a:t>Traditional passive investing (e.g., buy-and-hold S&amp;P 500) is simple but may miss opportunities. Factor models use market drivers like size, value, and momentum to potentially improve returns.</a:t>
            </a:r>
            <a:endParaRPr/>
          </a:p>
          <a:p>
            <a:pPr indent="-311150" lvl="0" marL="457200" rtl="0" algn="l">
              <a:spcBef>
                <a:spcPts val="0"/>
              </a:spcBef>
              <a:spcAft>
                <a:spcPts val="0"/>
              </a:spcAft>
              <a:buSzPts val="1300"/>
              <a:buChar char="●"/>
            </a:pPr>
            <a:r>
              <a:rPr b="1" lang="en"/>
              <a:t>Key Question: </a:t>
            </a:r>
            <a:endParaRPr b="1"/>
          </a:p>
          <a:p>
            <a:pPr indent="-298450" lvl="1" marL="914400" rtl="0" algn="l">
              <a:spcBef>
                <a:spcPts val="0"/>
              </a:spcBef>
              <a:spcAft>
                <a:spcPts val="0"/>
              </a:spcAft>
              <a:buSzPts val="1100"/>
              <a:buChar char="○"/>
            </a:pPr>
            <a:r>
              <a:rPr lang="en"/>
              <a:t>Does increasing model complexity lead to better risk-adjusted performance?</a:t>
            </a:r>
            <a:endParaRPr/>
          </a:p>
          <a:p>
            <a:pPr indent="-311150" lvl="0" marL="457200" rtl="0" algn="l">
              <a:spcBef>
                <a:spcPts val="0"/>
              </a:spcBef>
              <a:spcAft>
                <a:spcPts val="0"/>
              </a:spcAft>
              <a:buSzPts val="1300"/>
              <a:buChar char="●"/>
            </a:pPr>
            <a:r>
              <a:rPr b="1" lang="en"/>
              <a:t>Approach: </a:t>
            </a:r>
            <a:endParaRPr b="1"/>
          </a:p>
          <a:p>
            <a:pPr indent="-298450" lvl="1" marL="914400" rtl="0" algn="l">
              <a:spcBef>
                <a:spcPts val="0"/>
              </a:spcBef>
              <a:spcAft>
                <a:spcPts val="0"/>
              </a:spcAft>
              <a:buSzPts val="1100"/>
              <a:buChar char="○"/>
            </a:pPr>
            <a:r>
              <a:rPr lang="en"/>
              <a:t>Compare three strategies over 15+ years of data with walk-forward backtesting.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Fama–French Five Factors</a:t>
            </a:r>
            <a:endParaRPr/>
          </a:p>
        </p:txBody>
      </p:sp>
      <p:sp>
        <p:nvSpPr>
          <p:cNvPr id="298" name="Google Shape;298;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298450" lvl="1" marL="914400" rtl="0" algn="l">
              <a:spcBef>
                <a:spcPts val="0"/>
              </a:spcBef>
              <a:spcAft>
                <a:spcPts val="0"/>
              </a:spcAft>
              <a:buSzPts val="1100"/>
              <a:buChar char="○"/>
            </a:pPr>
            <a:r>
              <a:rPr b="1" lang="en"/>
              <a:t>Market Risk Premium (Mkt-RF)</a:t>
            </a:r>
            <a:r>
              <a:rPr lang="en"/>
              <a:t>: Market return minus risk-free rate. Measures if stocks beat safe investments.</a:t>
            </a:r>
            <a:endParaRPr/>
          </a:p>
          <a:p>
            <a:pPr indent="-298450" lvl="1" marL="914400" rtl="0" algn="l">
              <a:spcBef>
                <a:spcPts val="0"/>
              </a:spcBef>
              <a:spcAft>
                <a:spcPts val="0"/>
              </a:spcAft>
              <a:buSzPts val="1100"/>
              <a:buChar char="○"/>
            </a:pPr>
            <a:r>
              <a:rPr b="1" lang="en"/>
              <a:t>Small Minus Big (SMB): </a:t>
            </a:r>
            <a:r>
              <a:rPr lang="en"/>
              <a:t>Small-cap vs large-cap performance. Captures size effect.</a:t>
            </a:r>
            <a:endParaRPr/>
          </a:p>
          <a:p>
            <a:pPr indent="-298450" lvl="1" marL="914400" rtl="0" algn="l">
              <a:spcBef>
                <a:spcPts val="0"/>
              </a:spcBef>
              <a:spcAft>
                <a:spcPts val="0"/>
              </a:spcAft>
              <a:buSzPts val="1100"/>
              <a:buChar char="○"/>
            </a:pPr>
            <a:r>
              <a:rPr b="1" lang="en"/>
              <a:t>High Minus Low (HML):</a:t>
            </a:r>
            <a:r>
              <a:rPr lang="en"/>
              <a:t> Value stocks vs growth stocks. The "value premium."</a:t>
            </a:r>
            <a:endParaRPr/>
          </a:p>
          <a:p>
            <a:pPr indent="-298450" lvl="1" marL="914400" rtl="0" algn="l">
              <a:spcBef>
                <a:spcPts val="0"/>
              </a:spcBef>
              <a:spcAft>
                <a:spcPts val="0"/>
              </a:spcAft>
              <a:buSzPts val="1100"/>
              <a:buChar char="○"/>
            </a:pPr>
            <a:r>
              <a:rPr b="1" lang="en"/>
              <a:t>Robust Minus Weak (RMW): </a:t>
            </a:r>
            <a:r>
              <a:rPr lang="en"/>
              <a:t>Profitable vs unprofitable companies. Quality factor.</a:t>
            </a:r>
            <a:endParaRPr/>
          </a:p>
          <a:p>
            <a:pPr indent="-298450" lvl="1" marL="914400" rtl="0" algn="l">
              <a:spcBef>
                <a:spcPts val="0"/>
              </a:spcBef>
              <a:spcAft>
                <a:spcPts val="0"/>
              </a:spcAft>
              <a:buSzPts val="1100"/>
              <a:buChar char="○"/>
            </a:pPr>
            <a:r>
              <a:rPr b="1" lang="en"/>
              <a:t>Conservative Minus Aggressive (CMA): </a:t>
            </a:r>
            <a:r>
              <a:rPr lang="en"/>
              <a:t>Conservative vs aggressive investors. Investment discipline factor.</a:t>
            </a:r>
            <a:endParaRPr/>
          </a:p>
          <a:p>
            <a:pPr indent="-298450" lvl="1" marL="914400" rtl="0" algn="l">
              <a:spcBef>
                <a:spcPts val="0"/>
              </a:spcBef>
              <a:spcAft>
                <a:spcPts val="0"/>
              </a:spcAft>
              <a:buSzPts val="1100"/>
              <a:buChar char="○"/>
            </a:pPr>
            <a:r>
              <a:rPr b="1" lang="en"/>
              <a:t>Risk-Free Rate (RF): </a:t>
            </a:r>
            <a:r>
              <a:rPr lang="en"/>
              <a:t>Return on safe investments (T-bills). Baseline return.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&amp; Rationale – Data &amp; Methodology</a:t>
            </a:r>
            <a:endParaRPr/>
          </a:p>
        </p:txBody>
      </p:sp>
      <p:sp>
        <p:nvSpPr>
          <p:cNvPr id="304" name="Google Shape;304;p1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a:t>Data Sources: </a:t>
            </a:r>
            <a:endParaRPr b="1"/>
          </a:p>
          <a:p>
            <a:pPr indent="-286385" lvl="0" marL="457200" rtl="0" algn="l">
              <a:spcBef>
                <a:spcPts val="1200"/>
              </a:spcBef>
              <a:spcAft>
                <a:spcPts val="0"/>
              </a:spcAft>
              <a:buSzPct val="100000"/>
              <a:buChar char="●"/>
            </a:pPr>
            <a:r>
              <a:rPr lang="en"/>
              <a:t>Fama-French factors (publicly available) + S&amp;P 500 prices (Yahoo Finance + Wikipedia)</a:t>
            </a:r>
            <a:endParaRPr/>
          </a:p>
          <a:p>
            <a:pPr indent="0" lvl="0" marL="0" rtl="0" algn="l">
              <a:spcBef>
                <a:spcPts val="1200"/>
              </a:spcBef>
              <a:spcAft>
                <a:spcPts val="0"/>
              </a:spcAft>
              <a:buNone/>
            </a:pPr>
            <a:r>
              <a:rPr b="1" lang="en"/>
              <a:t>Key Features: </a:t>
            </a:r>
            <a:endParaRPr b="1"/>
          </a:p>
          <a:p>
            <a:pPr indent="-286385" lvl="0" marL="457200" rtl="0" algn="l">
              <a:spcBef>
                <a:spcPts val="1200"/>
              </a:spcBef>
              <a:spcAft>
                <a:spcPts val="0"/>
              </a:spcAft>
              <a:buSzPct val="100000"/>
              <a:buChar char="●"/>
            </a:pPr>
            <a:r>
              <a:rPr lang="en"/>
              <a:t>Monthly returns, 5 factors (Mkt-RF, SMB, HML, RMW, CMA), risk-free rate</a:t>
            </a:r>
            <a:endParaRPr/>
          </a:p>
          <a:p>
            <a:pPr indent="0" lvl="0" marL="0" rtl="0" algn="l">
              <a:spcBef>
                <a:spcPts val="1200"/>
              </a:spcBef>
              <a:spcAft>
                <a:spcPts val="0"/>
              </a:spcAft>
              <a:buNone/>
            </a:pPr>
            <a:r>
              <a:rPr b="1" lang="en"/>
              <a:t>Evaluation: </a:t>
            </a:r>
            <a:endParaRPr b="1"/>
          </a:p>
          <a:p>
            <a:pPr indent="-286385" lvl="0" marL="457200" rtl="0" algn="l">
              <a:spcBef>
                <a:spcPts val="1200"/>
              </a:spcBef>
              <a:spcAft>
                <a:spcPts val="0"/>
              </a:spcAft>
              <a:buSzPct val="100000"/>
              <a:buChar char="●"/>
            </a:pPr>
            <a:r>
              <a:rPr lang="en"/>
              <a:t>Walk-forward backtesting (train on past, test on future)</a:t>
            </a:r>
            <a:endParaRPr/>
          </a:p>
          <a:p>
            <a:pPr indent="-286385" lvl="0" marL="457200" rtl="0" algn="l">
              <a:spcBef>
                <a:spcPts val="0"/>
              </a:spcBef>
              <a:spcAft>
                <a:spcPts val="0"/>
              </a:spcAft>
              <a:buSzPct val="100000"/>
              <a:buChar char="●"/>
            </a:pPr>
            <a:r>
              <a:rPr lang="en"/>
              <a:t>Evaluation Metrics: </a:t>
            </a:r>
            <a:r>
              <a:rPr lang="en"/>
              <a:t>Cumulative</a:t>
            </a:r>
            <a:r>
              <a:rPr lang="en"/>
              <a:t> Returns, Sharpe Ratio, CAGR, Max Drawdown</a:t>
            </a:r>
            <a:endParaRPr/>
          </a:p>
          <a:p>
            <a:pPr indent="0" lvl="0" marL="0" rtl="0" algn="l">
              <a:spcBef>
                <a:spcPts val="1200"/>
              </a:spcBef>
              <a:spcAft>
                <a:spcPts val="0"/>
              </a:spcAft>
              <a:buNone/>
            </a:pPr>
            <a:r>
              <a:rPr b="1" lang="en"/>
              <a:t>Why This Approach?: </a:t>
            </a:r>
            <a:endParaRPr b="1"/>
          </a:p>
          <a:p>
            <a:pPr indent="-286385" lvl="0" marL="457200" rtl="0" algn="l">
              <a:spcBef>
                <a:spcPts val="1200"/>
              </a:spcBef>
              <a:spcAft>
                <a:spcPts val="0"/>
              </a:spcAft>
              <a:buSzPct val="100000"/>
              <a:buChar char="●"/>
            </a:pPr>
            <a:r>
              <a:rPr lang="en"/>
              <a:t>Prevents 'look-ahead bias'; focuses on real-world applicability.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&amp; Rationale – Overview</a:t>
            </a:r>
            <a:endParaRPr/>
          </a:p>
        </p:txBody>
      </p:sp>
      <p:sp>
        <p:nvSpPr>
          <p:cNvPr id="310" name="Google Shape;310;p18"/>
          <p:cNvSpPr txBox="1"/>
          <p:nvPr>
            <p:ph idx="1" type="body"/>
          </p:nvPr>
        </p:nvSpPr>
        <p:spPr>
          <a:xfrm>
            <a:off x="1303800" y="1990050"/>
            <a:ext cx="7030500" cy="2943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Models Compared:</a:t>
            </a:r>
            <a:endParaRPr b="1"/>
          </a:p>
          <a:p>
            <a:pPr indent="-298767" lvl="0" marL="457200" rtl="0" algn="l">
              <a:spcBef>
                <a:spcPts val="1200"/>
              </a:spcBef>
              <a:spcAft>
                <a:spcPts val="0"/>
              </a:spcAft>
              <a:buSzPct val="100000"/>
              <a:buChar char="●"/>
            </a:pPr>
            <a:r>
              <a:rPr lang="en"/>
              <a:t>SPY Benchmark: Passive buy-and-hold (baseline)</a:t>
            </a:r>
            <a:endParaRPr/>
          </a:p>
          <a:p>
            <a:pPr indent="-287972" lvl="1" marL="914400" rtl="0" algn="l">
              <a:spcBef>
                <a:spcPts val="0"/>
              </a:spcBef>
              <a:spcAft>
                <a:spcPts val="0"/>
              </a:spcAft>
              <a:buSzPct val="100000"/>
              <a:buChar char="○"/>
            </a:pPr>
            <a:r>
              <a:rPr lang="en"/>
              <a:t>Chosen to provide a passive market baseline for evaluating whether active strategies add value beyond broad market exposure.</a:t>
            </a:r>
            <a:endParaRPr/>
          </a:p>
          <a:p>
            <a:pPr indent="-298767" lvl="0" marL="457200" rtl="0" algn="l">
              <a:spcBef>
                <a:spcPts val="0"/>
              </a:spcBef>
              <a:spcAft>
                <a:spcPts val="0"/>
              </a:spcAft>
              <a:buSzPct val="100000"/>
              <a:buChar char="●"/>
            </a:pPr>
            <a:r>
              <a:rPr lang="en"/>
              <a:t>Ordinary Least Squares Regression </a:t>
            </a:r>
            <a:r>
              <a:rPr lang="en"/>
              <a:t>Fama-French 5-Factor Model</a:t>
            </a:r>
            <a:endParaRPr/>
          </a:p>
          <a:p>
            <a:pPr indent="-287972" lvl="1" marL="914400" rtl="0" algn="l">
              <a:spcBef>
                <a:spcPts val="0"/>
              </a:spcBef>
              <a:spcAft>
                <a:spcPts val="0"/>
              </a:spcAft>
              <a:buSzPct val="100000"/>
              <a:buChar char="○"/>
            </a:pPr>
            <a:r>
              <a:rPr lang="en"/>
              <a:t>Chosen as an economically interpretable linear baseline that explains returns through well-established systematic risk factors.</a:t>
            </a:r>
            <a:endParaRPr/>
          </a:p>
          <a:p>
            <a:pPr indent="-298767" lvl="0" marL="457200" rtl="0" algn="l">
              <a:spcBef>
                <a:spcPts val="0"/>
              </a:spcBef>
              <a:spcAft>
                <a:spcPts val="0"/>
              </a:spcAft>
              <a:buSzPct val="100000"/>
              <a:buChar char="●"/>
            </a:pPr>
            <a:r>
              <a:rPr lang="en"/>
              <a:t>Linear (Logistic Regression) Fama-French 5-Factor Model</a:t>
            </a:r>
            <a:endParaRPr/>
          </a:p>
          <a:p>
            <a:pPr indent="-287972" lvl="1" marL="914400" rtl="0" algn="l">
              <a:spcBef>
                <a:spcPts val="0"/>
              </a:spcBef>
              <a:spcAft>
                <a:spcPts val="0"/>
              </a:spcAft>
              <a:buSzPct val="100000"/>
              <a:buChar char="○"/>
            </a:pPr>
            <a:r>
              <a:rPr lang="en"/>
              <a:t>Chosen to model directional return signals while maintaining linear interpretability and robustness.</a:t>
            </a:r>
            <a:endParaRPr/>
          </a:p>
          <a:p>
            <a:pPr indent="-298767" lvl="0" marL="457200" rtl="0" algn="l">
              <a:spcBef>
                <a:spcPts val="0"/>
              </a:spcBef>
              <a:spcAft>
                <a:spcPts val="0"/>
              </a:spcAft>
              <a:buSzPct val="100000"/>
              <a:buChar char="●"/>
            </a:pPr>
            <a:r>
              <a:rPr lang="en"/>
              <a:t>XGBoost </a:t>
            </a:r>
            <a:r>
              <a:rPr lang="en"/>
              <a:t>Fama-French 5-Factor Model</a:t>
            </a:r>
            <a:endParaRPr/>
          </a:p>
          <a:p>
            <a:pPr indent="-287972" lvl="1" marL="914400" rtl="0" algn="l">
              <a:spcBef>
                <a:spcPts val="0"/>
              </a:spcBef>
              <a:spcAft>
                <a:spcPts val="0"/>
              </a:spcAft>
              <a:buSzPct val="100000"/>
              <a:buChar char="○"/>
            </a:pPr>
            <a:r>
              <a:rPr lang="en"/>
              <a:t>Chosen to capture nonlinear factor interactions and improve asset selection through cross-sectional ranking.</a:t>
            </a:r>
            <a:endParaRPr/>
          </a:p>
          <a:p>
            <a:pPr indent="0" lvl="0" marL="0" rtl="0" algn="l">
              <a:spcBef>
                <a:spcPts val="1200"/>
              </a:spcBef>
              <a:spcAft>
                <a:spcPts val="0"/>
              </a:spcAft>
              <a:buNone/>
            </a:pPr>
            <a:r>
              <a:rPr b="1" lang="en"/>
              <a:t>Why These Models?: </a:t>
            </a:r>
            <a:endParaRPr b="1"/>
          </a:p>
          <a:p>
            <a:pPr indent="-298767" lvl="0" marL="457200" rtl="0" algn="l">
              <a:spcBef>
                <a:spcPts val="1200"/>
              </a:spcBef>
              <a:spcAft>
                <a:spcPts val="0"/>
              </a:spcAft>
              <a:buSzPct val="100000"/>
              <a:buChar char="●"/>
            </a:pPr>
            <a:r>
              <a:rPr lang="en"/>
              <a:t>Balances theory (factors) with data-driven approaches; tests complexity trade-offs.</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&amp; Rationale - </a:t>
            </a:r>
            <a:r>
              <a:rPr lang="en"/>
              <a:t>SPY Benchmark</a:t>
            </a:r>
            <a:endParaRPr/>
          </a:p>
        </p:txBody>
      </p:sp>
      <p:sp>
        <p:nvSpPr>
          <p:cNvPr id="316" name="Google Shape;316;p19"/>
          <p:cNvSpPr txBox="1"/>
          <p:nvPr>
            <p:ph idx="1" type="body"/>
          </p:nvPr>
        </p:nvSpPr>
        <p:spPr>
          <a:xfrm>
            <a:off x="1303800" y="1990050"/>
            <a:ext cx="7030500" cy="294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it is</a:t>
            </a:r>
            <a:endParaRPr/>
          </a:p>
          <a:p>
            <a:pPr indent="-311150" lvl="0" marL="457200" rtl="0" algn="l">
              <a:spcBef>
                <a:spcPts val="1200"/>
              </a:spcBef>
              <a:spcAft>
                <a:spcPts val="0"/>
              </a:spcAft>
              <a:buSzPts val="1300"/>
              <a:buChar char="●"/>
            </a:pPr>
            <a:r>
              <a:rPr lang="en"/>
              <a:t>SPY tracks the S&amp;P 500, representing the performance of the broad U.S. equity market.</a:t>
            </a:r>
            <a:endParaRPr/>
          </a:p>
          <a:p>
            <a:pPr indent="-311150" lvl="0" marL="457200" rtl="0" algn="l">
              <a:spcBef>
                <a:spcPts val="0"/>
              </a:spcBef>
              <a:spcAft>
                <a:spcPts val="0"/>
              </a:spcAft>
              <a:buSzPts val="1300"/>
              <a:buChar char="●"/>
            </a:pPr>
            <a:r>
              <a:rPr lang="en"/>
              <a:t>Used as a passive benchmark to evaluate whether active strategies add value.</a:t>
            </a:r>
            <a:endParaRPr/>
          </a:p>
          <a:p>
            <a:pPr indent="0" lvl="0" marL="0" rtl="0" algn="l">
              <a:spcBef>
                <a:spcPts val="1200"/>
              </a:spcBef>
              <a:spcAft>
                <a:spcPts val="0"/>
              </a:spcAft>
              <a:buNone/>
            </a:pPr>
            <a:r>
              <a:rPr lang="en"/>
              <a:t>How it works</a:t>
            </a:r>
            <a:endParaRPr/>
          </a:p>
          <a:p>
            <a:pPr indent="-311150" lvl="0" marL="457200" rtl="0" algn="l">
              <a:spcBef>
                <a:spcPts val="1200"/>
              </a:spcBef>
              <a:spcAft>
                <a:spcPts val="0"/>
              </a:spcAft>
              <a:buSzPts val="1300"/>
              <a:buChar char="●"/>
            </a:pPr>
            <a:r>
              <a:rPr lang="en"/>
              <a:t>Portfolio holds SPY continuously (buy-and-hold).</a:t>
            </a:r>
            <a:endParaRPr/>
          </a:p>
          <a:p>
            <a:pPr indent="-311150" lvl="0" marL="457200" rtl="0" algn="l">
              <a:spcBef>
                <a:spcPts val="0"/>
              </a:spcBef>
              <a:spcAft>
                <a:spcPts val="0"/>
              </a:spcAft>
              <a:buSzPts val="1300"/>
              <a:buChar char="●"/>
            </a:pPr>
            <a:r>
              <a:rPr lang="en"/>
              <a:t>No factor timing, no predictions, no rebalancing logic.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0"/>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&amp; Rationale - Ordinary Least Squares Regression Model</a:t>
            </a:r>
            <a:endParaRPr/>
          </a:p>
          <a:p>
            <a:pPr indent="0" lvl="0" marL="0" rtl="0" algn="l">
              <a:spcBef>
                <a:spcPts val="0"/>
              </a:spcBef>
              <a:spcAft>
                <a:spcPts val="0"/>
              </a:spcAft>
              <a:buNone/>
            </a:pPr>
            <a:r>
              <a:t/>
            </a:r>
            <a:endParaRPr/>
          </a:p>
        </p:txBody>
      </p:sp>
      <p:sp>
        <p:nvSpPr>
          <p:cNvPr id="322" name="Google Shape;322;p20"/>
          <p:cNvSpPr txBox="1"/>
          <p:nvPr>
            <p:ph idx="1" type="body"/>
          </p:nvPr>
        </p:nvSpPr>
        <p:spPr>
          <a:xfrm>
            <a:off x="1303800" y="1990050"/>
            <a:ext cx="3548100" cy="2943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What the model is</a:t>
            </a:r>
            <a:endParaRPr/>
          </a:p>
          <a:p>
            <a:pPr indent="-292576" lvl="0" marL="457200" rtl="0" algn="l">
              <a:spcBef>
                <a:spcPts val="1200"/>
              </a:spcBef>
              <a:spcAft>
                <a:spcPts val="0"/>
              </a:spcAft>
              <a:buSzPct val="100000"/>
              <a:buChar char="●"/>
            </a:pPr>
            <a:r>
              <a:rPr lang="en"/>
              <a:t>Linear regression model explaining asset excess returns using economic risk factors</a:t>
            </a:r>
            <a:endParaRPr/>
          </a:p>
          <a:p>
            <a:pPr indent="-292576" lvl="0" marL="457200" rtl="0" algn="l">
              <a:spcBef>
                <a:spcPts val="0"/>
              </a:spcBef>
              <a:spcAft>
                <a:spcPts val="0"/>
              </a:spcAft>
              <a:buSzPct val="100000"/>
              <a:buChar char="●"/>
            </a:pPr>
            <a:r>
              <a:rPr lang="en"/>
              <a:t>Based on the Fama–French factor framework</a:t>
            </a:r>
            <a:endParaRPr/>
          </a:p>
          <a:p>
            <a:pPr indent="0" lvl="0" marL="0" rtl="0" algn="l">
              <a:spcBef>
                <a:spcPts val="1200"/>
              </a:spcBef>
              <a:spcAft>
                <a:spcPts val="0"/>
              </a:spcAft>
              <a:buNone/>
            </a:pPr>
            <a:r>
              <a:rPr lang="en"/>
              <a:t>How it works</a:t>
            </a:r>
            <a:endParaRPr/>
          </a:p>
          <a:p>
            <a:pPr indent="-292576" lvl="0" marL="457200" rtl="0" algn="l">
              <a:spcBef>
                <a:spcPts val="1200"/>
              </a:spcBef>
              <a:spcAft>
                <a:spcPts val="0"/>
              </a:spcAft>
              <a:buSzPct val="100000"/>
              <a:buChar char="●"/>
            </a:pPr>
            <a:r>
              <a:rPr lang="en"/>
              <a:t>Regresses asset excess returns on common risk factors</a:t>
            </a:r>
            <a:endParaRPr/>
          </a:p>
          <a:p>
            <a:pPr indent="-292576" lvl="0" marL="457200" rtl="0" algn="l">
              <a:spcBef>
                <a:spcPts val="0"/>
              </a:spcBef>
              <a:spcAft>
                <a:spcPts val="0"/>
              </a:spcAft>
              <a:buSzPct val="100000"/>
              <a:buChar char="●"/>
            </a:pPr>
            <a:r>
              <a:rPr lang="en"/>
              <a:t>Coefficients measure sensitivity to each factor</a:t>
            </a:r>
            <a:endParaRPr/>
          </a:p>
          <a:p>
            <a:pPr indent="-292576" lvl="0" marL="457200" rtl="0" algn="l">
              <a:spcBef>
                <a:spcPts val="0"/>
              </a:spcBef>
              <a:spcAft>
                <a:spcPts val="0"/>
              </a:spcAft>
              <a:buSzPct val="100000"/>
              <a:buChar char="●"/>
            </a:pPr>
            <a:r>
              <a:rPr lang="en"/>
              <a:t>Parameters estimated using Ordinary Least Squares (OLS)</a:t>
            </a:r>
            <a:endParaRPr/>
          </a:p>
          <a:p>
            <a:pPr indent="0" lvl="0" marL="0" rtl="0" algn="l">
              <a:spcBef>
                <a:spcPts val="1200"/>
              </a:spcBef>
              <a:spcAft>
                <a:spcPts val="0"/>
              </a:spcAft>
              <a:buNone/>
            </a:pPr>
            <a:r>
              <a:rPr lang="en"/>
              <a:t>Model equation</a:t>
            </a:r>
            <a:endParaRPr/>
          </a:p>
          <a:p>
            <a:pPr indent="-292576" lvl="0" marL="457200" rtl="0" algn="l">
              <a:spcBef>
                <a:spcPts val="1200"/>
              </a:spcBef>
              <a:spcAft>
                <a:spcPts val="0"/>
              </a:spcAft>
              <a:buSzPct val="100000"/>
              <a:buChar char="●"/>
            </a:pPr>
            <a:r>
              <a:rPr lang="en"/>
              <a:t>Excess Return = α + β₁·MKT + β₂·SMB + β₃·HML + β₄·RMW + β₅·CMA + ε</a:t>
            </a:r>
            <a:endParaRPr/>
          </a:p>
        </p:txBody>
      </p:sp>
      <p:sp>
        <p:nvSpPr>
          <p:cNvPr id="323" name="Google Shape;323;p20"/>
          <p:cNvSpPr txBox="1"/>
          <p:nvPr>
            <p:ph idx="1" type="body"/>
          </p:nvPr>
        </p:nvSpPr>
        <p:spPr>
          <a:xfrm>
            <a:off x="5127275" y="1990050"/>
            <a:ext cx="3548100" cy="294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t>How it is used</a:t>
            </a:r>
            <a:endParaRPr sz="1000"/>
          </a:p>
          <a:p>
            <a:pPr indent="-292100" lvl="0" marL="457200" rtl="0" algn="l">
              <a:spcBef>
                <a:spcPts val="1200"/>
              </a:spcBef>
              <a:spcAft>
                <a:spcPts val="0"/>
              </a:spcAft>
              <a:buSzPts val="1000"/>
              <a:buChar char="●"/>
            </a:pPr>
            <a:r>
              <a:rPr lang="en" sz="1000"/>
              <a:t>Estimated factor exposures are used to understand return drivers</a:t>
            </a:r>
            <a:endParaRPr sz="1000"/>
          </a:p>
          <a:p>
            <a:pPr indent="-292100" lvl="0" marL="457200" rtl="0" algn="l">
              <a:spcBef>
                <a:spcPts val="0"/>
              </a:spcBef>
              <a:spcAft>
                <a:spcPts val="0"/>
              </a:spcAft>
              <a:buSzPts val="1000"/>
              <a:buChar char="●"/>
            </a:pPr>
            <a:r>
              <a:rPr lang="en" sz="1000"/>
              <a:t>Serves as a linear benchmark model against more complex approaches</a:t>
            </a:r>
            <a:endParaRPr sz="1000"/>
          </a:p>
          <a:p>
            <a:pPr indent="0" lvl="0" marL="0" rtl="0" algn="l">
              <a:spcBef>
                <a:spcPts val="1200"/>
              </a:spcBef>
              <a:spcAft>
                <a:spcPts val="0"/>
              </a:spcAft>
              <a:buNone/>
            </a:pPr>
            <a:r>
              <a:rPr lang="en" sz="1000"/>
              <a:t>Key characteristics</a:t>
            </a:r>
            <a:endParaRPr sz="1000"/>
          </a:p>
          <a:p>
            <a:pPr indent="-292100" lvl="0" marL="457200" rtl="0" algn="l">
              <a:spcBef>
                <a:spcPts val="1200"/>
              </a:spcBef>
              <a:spcAft>
                <a:spcPts val="0"/>
              </a:spcAft>
              <a:buSzPts val="1000"/>
              <a:buChar char="●"/>
            </a:pPr>
            <a:r>
              <a:rPr lang="en" sz="1000"/>
              <a:t>Linear and interpretable</a:t>
            </a:r>
            <a:endParaRPr sz="1000"/>
          </a:p>
          <a:p>
            <a:pPr indent="-292100" lvl="0" marL="457200" rtl="0" algn="l">
              <a:spcBef>
                <a:spcPts val="0"/>
              </a:spcBef>
              <a:spcAft>
                <a:spcPts val="0"/>
              </a:spcAft>
              <a:buSzPts val="1000"/>
              <a:buChar char="●"/>
            </a:pPr>
            <a:r>
              <a:rPr lang="en" sz="1000"/>
              <a:t>Economically motivated</a:t>
            </a:r>
            <a:endParaRPr sz="1000"/>
          </a:p>
          <a:p>
            <a:pPr indent="-292100" lvl="0" marL="457200" rtl="0" algn="l">
              <a:spcBef>
                <a:spcPts val="0"/>
              </a:spcBef>
              <a:spcAft>
                <a:spcPts val="0"/>
              </a:spcAft>
              <a:buSzPts val="1000"/>
              <a:buChar char="●"/>
            </a:pPr>
            <a:r>
              <a:rPr lang="en" sz="1000"/>
              <a:t>Assumes stable linear relationships between factors and returns</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&amp; Rationale - Linear (Logistic Regression) Model</a:t>
            </a:r>
            <a:endParaRPr/>
          </a:p>
          <a:p>
            <a:pPr indent="0" lvl="0" marL="0" rtl="0" algn="l">
              <a:spcBef>
                <a:spcPts val="0"/>
              </a:spcBef>
              <a:spcAft>
                <a:spcPts val="0"/>
              </a:spcAft>
              <a:buNone/>
            </a:pPr>
            <a:r>
              <a:t/>
            </a:r>
            <a:endParaRPr/>
          </a:p>
        </p:txBody>
      </p:sp>
      <p:sp>
        <p:nvSpPr>
          <p:cNvPr id="329" name="Google Shape;329;p21"/>
          <p:cNvSpPr txBox="1"/>
          <p:nvPr>
            <p:ph idx="1" type="body"/>
          </p:nvPr>
        </p:nvSpPr>
        <p:spPr>
          <a:xfrm>
            <a:off x="1303800" y="1990050"/>
            <a:ext cx="3363900" cy="2943300"/>
          </a:xfrm>
          <a:prstGeom prst="rect">
            <a:avLst/>
          </a:prstGeom>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None/>
            </a:pPr>
            <a:r>
              <a:rPr lang="en"/>
              <a:t>What the model is</a:t>
            </a:r>
            <a:endParaRPr/>
          </a:p>
          <a:p>
            <a:pPr indent="-298767" lvl="0" marL="457200" rtl="0" algn="l">
              <a:lnSpc>
                <a:spcPct val="115000"/>
              </a:lnSpc>
              <a:spcBef>
                <a:spcPts val="1200"/>
              </a:spcBef>
              <a:spcAft>
                <a:spcPts val="0"/>
              </a:spcAft>
              <a:buSzPct val="100000"/>
              <a:buChar char="●"/>
            </a:pPr>
            <a:r>
              <a:rPr lang="en"/>
              <a:t>Linear binary classifier predicting whether an asset’s excess return is positive</a:t>
            </a:r>
            <a:endParaRPr/>
          </a:p>
          <a:p>
            <a:pPr indent="-298767" lvl="0" marL="457200" rtl="0" algn="l">
              <a:lnSpc>
                <a:spcPct val="115000"/>
              </a:lnSpc>
              <a:spcBef>
                <a:spcPts val="0"/>
              </a:spcBef>
              <a:spcAft>
                <a:spcPts val="0"/>
              </a:spcAft>
              <a:buSzPct val="100000"/>
              <a:buChar char="●"/>
            </a:pPr>
            <a:r>
              <a:rPr lang="en"/>
              <a:t>Uses the same factor-based features as the OLS model</a:t>
            </a:r>
            <a:endParaRPr/>
          </a:p>
          <a:p>
            <a:pPr indent="0" lvl="0" marL="0" rtl="0" algn="l">
              <a:lnSpc>
                <a:spcPct val="115000"/>
              </a:lnSpc>
              <a:spcBef>
                <a:spcPts val="1200"/>
              </a:spcBef>
              <a:spcAft>
                <a:spcPts val="0"/>
              </a:spcAft>
              <a:buNone/>
            </a:pPr>
            <a:r>
              <a:rPr lang="en"/>
              <a:t>How it works</a:t>
            </a:r>
            <a:endParaRPr/>
          </a:p>
          <a:p>
            <a:pPr indent="-298767" lvl="0" marL="457200" rtl="0" algn="l">
              <a:lnSpc>
                <a:spcPct val="115000"/>
              </a:lnSpc>
              <a:spcBef>
                <a:spcPts val="1200"/>
              </a:spcBef>
              <a:spcAft>
                <a:spcPts val="0"/>
              </a:spcAft>
              <a:buSzPct val="100000"/>
              <a:buChar char="●"/>
            </a:pPr>
            <a:r>
              <a:rPr lang="en"/>
              <a:t>Target variable:</a:t>
            </a:r>
            <a:endParaRPr/>
          </a:p>
          <a:p>
            <a:pPr indent="-287972" lvl="1" marL="914400" rtl="0" algn="l">
              <a:lnSpc>
                <a:spcPct val="115000"/>
              </a:lnSpc>
              <a:spcBef>
                <a:spcPts val="0"/>
              </a:spcBef>
              <a:spcAft>
                <a:spcPts val="0"/>
              </a:spcAft>
              <a:buSzPct val="100000"/>
              <a:buChar char="○"/>
            </a:pPr>
            <a:r>
              <a:rPr lang="en"/>
              <a:t>1 if excess return &gt; 0</a:t>
            </a:r>
            <a:endParaRPr/>
          </a:p>
          <a:p>
            <a:pPr indent="-287972" lvl="1" marL="914400" rtl="0" algn="l">
              <a:lnSpc>
                <a:spcPct val="115000"/>
              </a:lnSpc>
              <a:spcBef>
                <a:spcPts val="0"/>
              </a:spcBef>
              <a:spcAft>
                <a:spcPts val="0"/>
              </a:spcAft>
              <a:buSzPct val="100000"/>
              <a:buChar char="○"/>
            </a:pPr>
            <a:r>
              <a:rPr lang="en"/>
              <a:t>0 otherwise</a:t>
            </a:r>
            <a:endParaRPr/>
          </a:p>
          <a:p>
            <a:pPr indent="-298767" lvl="0" marL="457200" rtl="0" algn="l">
              <a:lnSpc>
                <a:spcPct val="115000"/>
              </a:lnSpc>
              <a:spcBef>
                <a:spcPts val="0"/>
              </a:spcBef>
              <a:spcAft>
                <a:spcPts val="0"/>
              </a:spcAft>
              <a:buSzPct val="100000"/>
              <a:buChar char="●"/>
            </a:pPr>
            <a:r>
              <a:rPr lang="en"/>
              <a:t>Learns a linear decision boundary in factor space</a:t>
            </a:r>
            <a:endParaRPr/>
          </a:p>
          <a:p>
            <a:pPr indent="-298767" lvl="0" marL="457200" rtl="0" algn="l">
              <a:lnSpc>
                <a:spcPct val="115000"/>
              </a:lnSpc>
              <a:spcBef>
                <a:spcPts val="0"/>
              </a:spcBef>
              <a:spcAft>
                <a:spcPts val="0"/>
              </a:spcAft>
              <a:buSzPct val="100000"/>
              <a:buChar char="●"/>
            </a:pPr>
            <a:r>
              <a:rPr lang="en"/>
              <a:t>Outputs a probability, not a return value</a:t>
            </a:r>
            <a:endParaRPr/>
          </a:p>
        </p:txBody>
      </p:sp>
      <p:sp>
        <p:nvSpPr>
          <p:cNvPr id="330" name="Google Shape;330;p21"/>
          <p:cNvSpPr txBox="1"/>
          <p:nvPr/>
        </p:nvSpPr>
        <p:spPr>
          <a:xfrm>
            <a:off x="4795800" y="1990050"/>
            <a:ext cx="3915000" cy="26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2"/>
                </a:solidFill>
                <a:latin typeface="Nunito"/>
                <a:ea typeface="Nunito"/>
                <a:cs typeface="Nunito"/>
                <a:sym typeface="Nunito"/>
              </a:rPr>
              <a:t>Model Equation</a:t>
            </a:r>
            <a:endParaRPr sz="1100">
              <a:solidFill>
                <a:schemeClr val="dk2"/>
              </a:solidFill>
              <a:latin typeface="Nunito"/>
              <a:ea typeface="Nunito"/>
              <a:cs typeface="Nunito"/>
              <a:sym typeface="Nunito"/>
            </a:endParaRPr>
          </a:p>
          <a:p>
            <a:pPr indent="-298450" lvl="0" marL="457200" rtl="0" algn="l">
              <a:lnSpc>
                <a:spcPct val="115000"/>
              </a:lnSpc>
              <a:spcBef>
                <a:spcPts val="1200"/>
              </a:spcBef>
              <a:spcAft>
                <a:spcPts val="0"/>
              </a:spcAft>
              <a:buClr>
                <a:schemeClr val="dk2"/>
              </a:buClr>
              <a:buSzPts val="1100"/>
              <a:buFont typeface="Nunito"/>
              <a:buChar char="●"/>
            </a:pPr>
            <a:r>
              <a:rPr lang="en" sz="1100">
                <a:solidFill>
                  <a:schemeClr val="dk2"/>
                </a:solidFill>
                <a:latin typeface="Nunito"/>
                <a:ea typeface="Nunito"/>
                <a:cs typeface="Nunito"/>
                <a:sym typeface="Nunito"/>
              </a:rPr>
              <a:t>P(Y = 1 | X) = 1 / (1 + exp(−(β₀ + βᵀX)))</a:t>
            </a:r>
            <a:endParaRPr sz="1100">
              <a:solidFill>
                <a:schemeClr val="dk2"/>
              </a:solidFill>
              <a:latin typeface="Nunito"/>
              <a:ea typeface="Nunito"/>
              <a:cs typeface="Nunito"/>
              <a:sym typeface="Nunito"/>
            </a:endParaRPr>
          </a:p>
          <a:p>
            <a:pPr indent="0" lvl="0" marL="0" rtl="0" algn="l">
              <a:lnSpc>
                <a:spcPct val="115000"/>
              </a:lnSpc>
              <a:spcBef>
                <a:spcPts val="1200"/>
              </a:spcBef>
              <a:spcAft>
                <a:spcPts val="0"/>
              </a:spcAft>
              <a:buNone/>
            </a:pPr>
            <a:r>
              <a:rPr lang="en" sz="1100">
                <a:solidFill>
                  <a:schemeClr val="dk2"/>
                </a:solidFill>
                <a:latin typeface="Nunito"/>
                <a:ea typeface="Nunito"/>
                <a:cs typeface="Nunito"/>
                <a:sym typeface="Nunito"/>
              </a:rPr>
              <a:t>How it is used</a:t>
            </a:r>
            <a:endParaRPr sz="1100">
              <a:solidFill>
                <a:schemeClr val="dk2"/>
              </a:solidFill>
              <a:latin typeface="Nunito"/>
              <a:ea typeface="Nunito"/>
              <a:cs typeface="Nunito"/>
              <a:sym typeface="Nunito"/>
            </a:endParaRPr>
          </a:p>
          <a:p>
            <a:pPr indent="-298450" lvl="0" marL="457200" rtl="0" algn="l">
              <a:lnSpc>
                <a:spcPct val="115000"/>
              </a:lnSpc>
              <a:spcBef>
                <a:spcPts val="1200"/>
              </a:spcBef>
              <a:spcAft>
                <a:spcPts val="0"/>
              </a:spcAft>
              <a:buClr>
                <a:schemeClr val="dk2"/>
              </a:buClr>
              <a:buSzPts val="1100"/>
              <a:buFont typeface="Nunito"/>
              <a:buChar char="●"/>
            </a:pPr>
            <a:r>
              <a:rPr lang="en" sz="1100">
                <a:solidFill>
                  <a:schemeClr val="dk2"/>
                </a:solidFill>
                <a:latin typeface="Nunito"/>
                <a:ea typeface="Nunito"/>
                <a:cs typeface="Nunito"/>
                <a:sym typeface="Nunito"/>
              </a:rPr>
              <a:t>Assets with higher predicted probability are selected for the portfolio</a:t>
            </a:r>
            <a:endParaRPr sz="1100">
              <a:solidFill>
                <a:schemeClr val="dk2"/>
              </a:solidFill>
              <a:latin typeface="Nunito"/>
              <a:ea typeface="Nunito"/>
              <a:cs typeface="Nunito"/>
              <a:sym typeface="Nunito"/>
            </a:endParaRPr>
          </a:p>
          <a:p>
            <a:pPr indent="0" lvl="0" marL="0" rtl="0" algn="l">
              <a:lnSpc>
                <a:spcPct val="115000"/>
              </a:lnSpc>
              <a:spcBef>
                <a:spcPts val="1200"/>
              </a:spcBef>
              <a:spcAft>
                <a:spcPts val="0"/>
              </a:spcAft>
              <a:buNone/>
            </a:pPr>
            <a:r>
              <a:rPr lang="en" sz="1100">
                <a:solidFill>
                  <a:schemeClr val="dk2"/>
                </a:solidFill>
                <a:latin typeface="Nunito"/>
                <a:ea typeface="Nunito"/>
                <a:cs typeface="Nunito"/>
                <a:sym typeface="Nunito"/>
              </a:rPr>
              <a:t>Key Characteristics</a:t>
            </a:r>
            <a:endParaRPr sz="1100">
              <a:solidFill>
                <a:schemeClr val="dk2"/>
              </a:solidFill>
              <a:latin typeface="Nunito"/>
              <a:ea typeface="Nunito"/>
              <a:cs typeface="Nunito"/>
              <a:sym typeface="Nunito"/>
            </a:endParaRPr>
          </a:p>
          <a:p>
            <a:pPr indent="-298450" lvl="0" marL="457200" rtl="0" algn="l">
              <a:lnSpc>
                <a:spcPct val="115000"/>
              </a:lnSpc>
              <a:spcBef>
                <a:spcPts val="1200"/>
              </a:spcBef>
              <a:spcAft>
                <a:spcPts val="0"/>
              </a:spcAft>
              <a:buClr>
                <a:schemeClr val="dk2"/>
              </a:buClr>
              <a:buSzPts val="1100"/>
              <a:buFont typeface="Nunito"/>
              <a:buChar char="●"/>
            </a:pPr>
            <a:r>
              <a:rPr lang="en" sz="1100">
                <a:solidFill>
                  <a:schemeClr val="dk2"/>
                </a:solidFill>
                <a:latin typeface="Nunito"/>
                <a:ea typeface="Nunito"/>
                <a:cs typeface="Nunito"/>
                <a:sym typeface="Nunito"/>
              </a:rPr>
              <a:t>Linear and interpretable</a:t>
            </a:r>
            <a:endParaRPr sz="1100">
              <a:solidFill>
                <a:schemeClr val="dk2"/>
              </a:solidFill>
              <a:latin typeface="Nunito"/>
              <a:ea typeface="Nunito"/>
              <a:cs typeface="Nunito"/>
              <a:sym typeface="Nunito"/>
            </a:endParaRPr>
          </a:p>
          <a:p>
            <a:pPr indent="-298450" lvl="0" marL="457200" rtl="0" algn="l">
              <a:lnSpc>
                <a:spcPct val="115000"/>
              </a:lnSpc>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Directional (classification-based)</a:t>
            </a:r>
            <a:endParaRPr sz="1100">
              <a:solidFill>
                <a:schemeClr val="dk2"/>
              </a:solidFill>
              <a:latin typeface="Nunito"/>
              <a:ea typeface="Nunito"/>
              <a:cs typeface="Nunito"/>
              <a:sym typeface="Nunito"/>
            </a:endParaRPr>
          </a:p>
          <a:p>
            <a:pPr indent="-298450" lvl="0" marL="457200" rtl="0" algn="l">
              <a:lnSpc>
                <a:spcPct val="115000"/>
              </a:lnSpc>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Probability-driven asset selection</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&amp; Rationale - XGBoost Model</a:t>
            </a:r>
            <a:endParaRPr/>
          </a:p>
        </p:txBody>
      </p:sp>
      <p:sp>
        <p:nvSpPr>
          <p:cNvPr id="336" name="Google Shape;336;p22"/>
          <p:cNvSpPr txBox="1"/>
          <p:nvPr>
            <p:ph idx="1" type="body"/>
          </p:nvPr>
        </p:nvSpPr>
        <p:spPr>
          <a:xfrm>
            <a:off x="1303800" y="1990050"/>
            <a:ext cx="3398700" cy="29433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What is the model</a:t>
            </a:r>
            <a:endParaRPr/>
          </a:p>
          <a:p>
            <a:pPr indent="-292576" lvl="0" marL="457200" rtl="0" algn="l">
              <a:spcBef>
                <a:spcPts val="1200"/>
              </a:spcBef>
              <a:spcAft>
                <a:spcPts val="0"/>
              </a:spcAft>
              <a:buSzPct val="100000"/>
              <a:buChar char="●"/>
            </a:pPr>
            <a:r>
              <a:rPr lang="en"/>
              <a:t>Nonlinear gradient-boosted decision tree model</a:t>
            </a:r>
            <a:endParaRPr/>
          </a:p>
          <a:p>
            <a:pPr indent="-292576" lvl="0" marL="457200" rtl="0" algn="l">
              <a:spcBef>
                <a:spcPts val="0"/>
              </a:spcBef>
              <a:spcAft>
                <a:spcPts val="0"/>
              </a:spcAft>
              <a:buSzPct val="100000"/>
              <a:buChar char="●"/>
            </a:pPr>
            <a:r>
              <a:rPr lang="en"/>
              <a:t>Designed for cross-sectional ranking of assets, not direct return prediction</a:t>
            </a:r>
            <a:endParaRPr/>
          </a:p>
          <a:p>
            <a:pPr indent="0" lvl="0" marL="0" rtl="0" algn="l">
              <a:spcBef>
                <a:spcPts val="1200"/>
              </a:spcBef>
              <a:spcAft>
                <a:spcPts val="0"/>
              </a:spcAft>
              <a:buNone/>
            </a:pPr>
            <a:r>
              <a:rPr lang="en"/>
              <a:t>How it works</a:t>
            </a:r>
            <a:endParaRPr/>
          </a:p>
          <a:p>
            <a:pPr indent="-292576" lvl="0" marL="457200" rtl="0" algn="l">
              <a:spcBef>
                <a:spcPts val="1200"/>
              </a:spcBef>
              <a:spcAft>
                <a:spcPts val="0"/>
              </a:spcAft>
              <a:buSzPct val="100000"/>
              <a:buChar char="●"/>
            </a:pPr>
            <a:r>
              <a:rPr lang="en"/>
              <a:t>Inputs: factor-based features</a:t>
            </a:r>
            <a:endParaRPr/>
          </a:p>
          <a:p>
            <a:pPr indent="-292576" lvl="0" marL="457200" rtl="0" algn="l">
              <a:spcBef>
                <a:spcPts val="0"/>
              </a:spcBef>
              <a:spcAft>
                <a:spcPts val="0"/>
              </a:spcAft>
              <a:buSzPct val="100000"/>
              <a:buChar char="●"/>
            </a:pPr>
            <a:r>
              <a:rPr lang="en"/>
              <a:t>Learns to assign scores so higher-return assets rank above lower-return assets</a:t>
            </a:r>
            <a:endParaRPr/>
          </a:p>
          <a:p>
            <a:pPr indent="-292576" lvl="0" marL="457200" rtl="0" algn="l">
              <a:spcBef>
                <a:spcPts val="0"/>
              </a:spcBef>
              <a:spcAft>
                <a:spcPts val="0"/>
              </a:spcAft>
              <a:buSzPct val="100000"/>
              <a:buChar char="●"/>
            </a:pPr>
            <a:r>
              <a:rPr lang="en"/>
              <a:t>Trained to optimize relative ordering within each month</a:t>
            </a:r>
            <a:endParaRPr/>
          </a:p>
          <a:p>
            <a:pPr indent="0" lvl="0" marL="0" rtl="0" algn="l">
              <a:spcBef>
                <a:spcPts val="1200"/>
              </a:spcBef>
              <a:spcAft>
                <a:spcPts val="0"/>
              </a:spcAft>
              <a:buNone/>
            </a:pPr>
            <a:r>
              <a:rPr lang="en"/>
              <a:t>Learning objective</a:t>
            </a:r>
            <a:endParaRPr/>
          </a:p>
          <a:p>
            <a:pPr indent="-292576" lvl="0" marL="457200" rtl="0" algn="l">
              <a:spcBef>
                <a:spcPts val="1200"/>
              </a:spcBef>
              <a:spcAft>
                <a:spcPts val="0"/>
              </a:spcAft>
              <a:buSzPct val="100000"/>
              <a:buChar char="●"/>
            </a:pPr>
            <a:r>
              <a:rPr lang="en"/>
              <a:t>Minimize ranking loss + tree complexity penalty</a:t>
            </a:r>
            <a:endParaRPr/>
          </a:p>
        </p:txBody>
      </p:sp>
      <p:sp>
        <p:nvSpPr>
          <p:cNvPr id="337" name="Google Shape;337;p22"/>
          <p:cNvSpPr txBox="1"/>
          <p:nvPr/>
        </p:nvSpPr>
        <p:spPr>
          <a:xfrm>
            <a:off x="5334300" y="1990050"/>
            <a:ext cx="3000000" cy="221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2"/>
                </a:solidFill>
                <a:latin typeface="Nunito"/>
                <a:ea typeface="Nunito"/>
                <a:cs typeface="Nunito"/>
                <a:sym typeface="Nunito"/>
              </a:rPr>
              <a:t>How it is used</a:t>
            </a:r>
            <a:endParaRPr sz="1000">
              <a:solidFill>
                <a:schemeClr val="dk2"/>
              </a:solidFill>
              <a:latin typeface="Nunito"/>
              <a:ea typeface="Nunito"/>
              <a:cs typeface="Nunito"/>
              <a:sym typeface="Nunito"/>
            </a:endParaRPr>
          </a:p>
          <a:p>
            <a:pPr indent="-292100" lvl="0" marL="457200" rtl="0" algn="l">
              <a:lnSpc>
                <a:spcPct val="115000"/>
              </a:lnSpc>
              <a:spcBef>
                <a:spcPts val="1200"/>
              </a:spcBef>
              <a:spcAft>
                <a:spcPts val="0"/>
              </a:spcAft>
              <a:buClr>
                <a:schemeClr val="dk2"/>
              </a:buClr>
              <a:buSzPts val="1000"/>
              <a:buFont typeface="Nunito"/>
              <a:buChar char="●"/>
            </a:pPr>
            <a:r>
              <a:rPr lang="en" sz="1000">
                <a:solidFill>
                  <a:schemeClr val="dk2"/>
                </a:solidFill>
                <a:latin typeface="Nunito"/>
                <a:ea typeface="Nunito"/>
                <a:cs typeface="Nunito"/>
                <a:sym typeface="Nunito"/>
              </a:rPr>
              <a:t>Assets are sorted by predicted score each month</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Portfolio holds the top-ranked assets</a:t>
            </a:r>
            <a:endParaRPr sz="1000">
              <a:solidFill>
                <a:schemeClr val="dk2"/>
              </a:solidFill>
              <a:latin typeface="Nunito"/>
              <a:ea typeface="Nunito"/>
              <a:cs typeface="Nunito"/>
              <a:sym typeface="Nunito"/>
            </a:endParaRPr>
          </a:p>
          <a:p>
            <a:pPr indent="0" lvl="0" marL="0" rtl="0" algn="l">
              <a:lnSpc>
                <a:spcPct val="115000"/>
              </a:lnSpc>
              <a:spcBef>
                <a:spcPts val="1200"/>
              </a:spcBef>
              <a:spcAft>
                <a:spcPts val="0"/>
              </a:spcAft>
              <a:buNone/>
            </a:pPr>
            <a:r>
              <a:rPr lang="en" sz="1000">
                <a:solidFill>
                  <a:schemeClr val="dk2"/>
                </a:solidFill>
                <a:latin typeface="Nunito"/>
                <a:ea typeface="Nunito"/>
                <a:cs typeface="Nunito"/>
                <a:sym typeface="Nunito"/>
              </a:rPr>
              <a:t>Key characteristics</a:t>
            </a:r>
            <a:endParaRPr sz="1000">
              <a:solidFill>
                <a:schemeClr val="dk2"/>
              </a:solidFill>
              <a:latin typeface="Nunito"/>
              <a:ea typeface="Nunito"/>
              <a:cs typeface="Nunito"/>
              <a:sym typeface="Nunito"/>
            </a:endParaRPr>
          </a:p>
          <a:p>
            <a:pPr indent="-292100" lvl="0" marL="457200" rtl="0" algn="l">
              <a:lnSpc>
                <a:spcPct val="115000"/>
              </a:lnSpc>
              <a:spcBef>
                <a:spcPts val="1200"/>
              </a:spcBef>
              <a:spcAft>
                <a:spcPts val="0"/>
              </a:spcAft>
              <a:buClr>
                <a:schemeClr val="dk2"/>
              </a:buClr>
              <a:buSzPts val="1000"/>
              <a:buFont typeface="Nunito"/>
              <a:buChar char="●"/>
            </a:pPr>
            <a:r>
              <a:rPr lang="en" sz="1000">
                <a:solidFill>
                  <a:schemeClr val="dk2"/>
                </a:solidFill>
                <a:latin typeface="Nunito"/>
                <a:ea typeface="Nunito"/>
                <a:cs typeface="Nunito"/>
                <a:sym typeface="Nunito"/>
              </a:rPr>
              <a:t>Nonlinear</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Captures factor interactions</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Focuses on relative performance</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Less interpretable than linear models</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&amp; Rationale – Evaluation Metrics</a:t>
            </a:r>
            <a:endParaRPr/>
          </a:p>
        </p:txBody>
      </p:sp>
      <p:sp>
        <p:nvSpPr>
          <p:cNvPr id="343" name="Google Shape;343;p23"/>
          <p:cNvSpPr txBox="1"/>
          <p:nvPr>
            <p:ph idx="1" type="body"/>
          </p:nvPr>
        </p:nvSpPr>
        <p:spPr>
          <a:xfrm>
            <a:off x="1303800" y="1990050"/>
            <a:ext cx="7030500" cy="2943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
              <a:t>Cumulative</a:t>
            </a:r>
            <a:r>
              <a:rPr b="1" lang="en"/>
              <a:t> Returns: </a:t>
            </a:r>
            <a:r>
              <a:rPr lang="en"/>
              <a:t>Total compounded return of the portfolio over the entire period.</a:t>
            </a:r>
            <a:endParaRPr/>
          </a:p>
          <a:p>
            <a:pPr indent="-311150" lvl="0" marL="457200" rtl="0" algn="l">
              <a:spcBef>
                <a:spcPts val="0"/>
              </a:spcBef>
              <a:spcAft>
                <a:spcPts val="0"/>
              </a:spcAft>
              <a:buSzPts val="1300"/>
              <a:buChar char="●"/>
            </a:pPr>
            <a:r>
              <a:rPr b="1" lang="en"/>
              <a:t>Sharpe Ratio: </a:t>
            </a:r>
            <a:r>
              <a:rPr lang="en"/>
              <a:t>Risk-adjusted return measured as excess return per unit of volatility.</a:t>
            </a:r>
            <a:endParaRPr/>
          </a:p>
          <a:p>
            <a:pPr indent="-311150" lvl="0" marL="457200" rtl="0" algn="l">
              <a:spcBef>
                <a:spcPts val="0"/>
              </a:spcBef>
              <a:spcAft>
                <a:spcPts val="0"/>
              </a:spcAft>
              <a:buSzPts val="1300"/>
              <a:buChar char="●"/>
            </a:pPr>
            <a:r>
              <a:rPr b="1" lang="en"/>
              <a:t>CAGR: </a:t>
            </a:r>
            <a:r>
              <a:rPr lang="en"/>
              <a:t>Average annual growth rate assuming returns are compounded.</a:t>
            </a:r>
            <a:endParaRPr/>
          </a:p>
          <a:p>
            <a:pPr indent="-311150" lvl="0" marL="457200" rtl="0" algn="l">
              <a:spcBef>
                <a:spcPts val="0"/>
              </a:spcBef>
              <a:spcAft>
                <a:spcPts val="0"/>
              </a:spcAft>
              <a:buSzPts val="1300"/>
              <a:buChar char="●"/>
            </a:pPr>
            <a:r>
              <a:rPr b="1" lang="en"/>
              <a:t>Max DD: </a:t>
            </a:r>
            <a:r>
              <a:rPr lang="en"/>
              <a:t>Largest peak-to-trough decline in portfolio value over time.</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4"/>
          <p:cNvSpPr txBox="1"/>
          <p:nvPr>
            <p:ph type="title"/>
          </p:nvPr>
        </p:nvSpPr>
        <p:spPr>
          <a:xfrm>
            <a:off x="1303800" y="598575"/>
            <a:ext cx="73299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Results Visualization – Performance Overview (OLS)</a:t>
            </a:r>
            <a:endParaRPr sz="2020"/>
          </a:p>
        </p:txBody>
      </p:sp>
      <p:sp>
        <p:nvSpPr>
          <p:cNvPr id="349" name="Google Shape;349;p24"/>
          <p:cNvSpPr txBox="1"/>
          <p:nvPr>
            <p:ph idx="1" type="body"/>
          </p:nvPr>
        </p:nvSpPr>
        <p:spPr>
          <a:xfrm>
            <a:off x="311700" y="3879600"/>
            <a:ext cx="8520600" cy="975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OLS (Strategy) has </a:t>
            </a:r>
            <a:r>
              <a:rPr lang="en"/>
              <a:t>significantly</a:t>
            </a:r>
            <a:r>
              <a:rPr lang="en"/>
              <a:t> more </a:t>
            </a:r>
            <a:r>
              <a:rPr lang="en"/>
              <a:t>cumulative</a:t>
            </a:r>
            <a:r>
              <a:rPr lang="en"/>
              <a:t> returns, nearly doubling in a 20 year period</a:t>
            </a:r>
            <a:endParaRPr/>
          </a:p>
        </p:txBody>
      </p:sp>
      <p:pic>
        <p:nvPicPr>
          <p:cNvPr id="350" name="Google Shape;350;p24"/>
          <p:cNvPicPr preferRelativeResize="0"/>
          <p:nvPr/>
        </p:nvPicPr>
        <p:blipFill>
          <a:blip r:embed="rId3">
            <a:alphaModFix/>
          </a:blip>
          <a:stretch>
            <a:fillRect/>
          </a:stretch>
        </p:blipFill>
        <p:spPr>
          <a:xfrm>
            <a:off x="1970425" y="1370822"/>
            <a:ext cx="5203150" cy="2401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Results Visualization – Risk-Adjusted Metrics</a:t>
            </a:r>
            <a:endParaRPr sz="2420"/>
          </a:p>
        </p:txBody>
      </p:sp>
      <p:pic>
        <p:nvPicPr>
          <p:cNvPr id="356" name="Google Shape;356;p25"/>
          <p:cNvPicPr preferRelativeResize="0"/>
          <p:nvPr/>
        </p:nvPicPr>
        <p:blipFill>
          <a:blip r:embed="rId3">
            <a:alphaModFix/>
          </a:blip>
          <a:stretch>
            <a:fillRect/>
          </a:stretch>
        </p:blipFill>
        <p:spPr>
          <a:xfrm>
            <a:off x="1370275" y="1404900"/>
            <a:ext cx="6403450" cy="3320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Results Visualization – Performance Overview (ML)</a:t>
            </a:r>
            <a:endParaRPr sz="2020"/>
          </a:p>
        </p:txBody>
      </p:sp>
      <p:pic>
        <p:nvPicPr>
          <p:cNvPr id="362" name="Google Shape;362;p26"/>
          <p:cNvPicPr preferRelativeResize="0"/>
          <p:nvPr/>
        </p:nvPicPr>
        <p:blipFill>
          <a:blip r:embed="rId3">
            <a:alphaModFix/>
          </a:blip>
          <a:stretch>
            <a:fillRect/>
          </a:stretch>
        </p:blipFill>
        <p:spPr>
          <a:xfrm>
            <a:off x="1703375" y="1017734"/>
            <a:ext cx="5737251" cy="2642100"/>
          </a:xfrm>
          <a:prstGeom prst="rect">
            <a:avLst/>
          </a:prstGeom>
          <a:noFill/>
          <a:ln>
            <a:noFill/>
          </a:ln>
        </p:spPr>
      </p:pic>
      <p:sp>
        <p:nvSpPr>
          <p:cNvPr id="363" name="Google Shape;363;p26"/>
          <p:cNvSpPr txBox="1"/>
          <p:nvPr>
            <p:ph idx="1" type="body"/>
          </p:nvPr>
        </p:nvSpPr>
        <p:spPr>
          <a:xfrm>
            <a:off x="311700" y="3879600"/>
            <a:ext cx="8520600" cy="9753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0000"/>
              <a:buChar char="●"/>
            </a:pPr>
            <a:r>
              <a:rPr lang="en"/>
              <a:t>XGBoost: Highest overall cumulative returns</a:t>
            </a:r>
            <a:endParaRPr/>
          </a:p>
          <a:p>
            <a:pPr indent="-298767" lvl="0" marL="457200" rtl="0" algn="l">
              <a:spcBef>
                <a:spcPts val="0"/>
              </a:spcBef>
              <a:spcAft>
                <a:spcPts val="0"/>
              </a:spcAft>
              <a:buSzPct val="100000"/>
              <a:buChar char="●"/>
            </a:pPr>
            <a:r>
              <a:rPr lang="en"/>
              <a:t>Linear FF5: Stable but lower than XGBoost</a:t>
            </a:r>
            <a:endParaRPr/>
          </a:p>
          <a:p>
            <a:pPr indent="-298767" lvl="0" marL="457200" rtl="0" algn="l">
              <a:spcBef>
                <a:spcPts val="0"/>
              </a:spcBef>
              <a:spcAft>
                <a:spcPts val="0"/>
              </a:spcAft>
              <a:buSzPct val="100000"/>
              <a:buChar char="●"/>
            </a:pPr>
            <a:r>
              <a:rPr lang="en"/>
              <a:t>SPY: Least </a:t>
            </a:r>
            <a:r>
              <a:rPr lang="en"/>
              <a:t>Cumulative</a:t>
            </a:r>
            <a:r>
              <a:rPr lang="en"/>
              <a:t> Returns</a:t>
            </a:r>
            <a:endParaRPr/>
          </a:p>
          <a:p>
            <a:pPr indent="0" lvl="0" marL="0" rtl="0" algn="l">
              <a:spcBef>
                <a:spcPts val="1200"/>
              </a:spcBef>
              <a:spcAft>
                <a:spcPts val="1200"/>
              </a:spcAft>
              <a:buNone/>
            </a:pPr>
            <a:r>
              <a:rPr lang="en"/>
              <a:t>Key Insight: XGBoost captures nonlinear patterns for superior long-term growth.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Results Visualization – Risk-Adjusted Metrics</a:t>
            </a:r>
            <a:endParaRPr sz="2420"/>
          </a:p>
        </p:txBody>
      </p:sp>
      <p:pic>
        <p:nvPicPr>
          <p:cNvPr id="369" name="Google Shape;369;p27"/>
          <p:cNvPicPr preferRelativeResize="0"/>
          <p:nvPr/>
        </p:nvPicPr>
        <p:blipFill>
          <a:blip r:embed="rId3">
            <a:alphaModFix/>
          </a:blip>
          <a:stretch>
            <a:fillRect/>
          </a:stretch>
        </p:blipFill>
        <p:spPr>
          <a:xfrm>
            <a:off x="1276575" y="1660174"/>
            <a:ext cx="6590825" cy="18231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 &amp; Future Work</a:t>
            </a:r>
            <a:endParaRPr/>
          </a:p>
        </p:txBody>
      </p:sp>
      <p:sp>
        <p:nvSpPr>
          <p:cNvPr id="375" name="Google Shape;375;p28"/>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a:t>Main Takeaways:</a:t>
            </a:r>
            <a:endParaRPr/>
          </a:p>
          <a:p>
            <a:pPr indent="-280193" lvl="0" marL="457200" rtl="0" algn="l">
              <a:spcBef>
                <a:spcPts val="1200"/>
              </a:spcBef>
              <a:spcAft>
                <a:spcPts val="0"/>
              </a:spcAft>
              <a:buSzPct val="100000"/>
              <a:buChar char="●"/>
            </a:pPr>
            <a:r>
              <a:rPr lang="en"/>
              <a:t>Factor-based strategies meaningfully outperform the passive SPY benchmark across the full sample period.</a:t>
            </a:r>
            <a:endParaRPr/>
          </a:p>
          <a:p>
            <a:pPr indent="-280193" lvl="0" marL="457200" rtl="0" algn="l">
              <a:spcBef>
                <a:spcPts val="0"/>
              </a:spcBef>
              <a:spcAft>
                <a:spcPts val="0"/>
              </a:spcAft>
              <a:buSzPct val="100000"/>
              <a:buChar char="●"/>
            </a:pPr>
            <a:r>
              <a:rPr lang="en"/>
              <a:t>The Linear (FF5) model delivers stable, interpretable outperformance, improving both CAGR and Sharpe ratio relative to SPY.</a:t>
            </a:r>
            <a:endParaRPr/>
          </a:p>
          <a:p>
            <a:pPr indent="-280193" lvl="0" marL="457200" rtl="0" algn="l">
              <a:spcBef>
                <a:spcPts val="0"/>
              </a:spcBef>
              <a:spcAft>
                <a:spcPts val="0"/>
              </a:spcAft>
              <a:buSzPct val="100000"/>
              <a:buChar char="●"/>
            </a:pPr>
            <a:r>
              <a:rPr lang="en"/>
              <a:t>The XGBoost ranking model achieves the highest cumulative returns and Sharpe ratio, indicating superior ability to exploit nonlinear factor interactions.</a:t>
            </a:r>
            <a:endParaRPr/>
          </a:p>
          <a:p>
            <a:pPr indent="-280193" lvl="0" marL="457200" rtl="0" algn="l">
              <a:spcBef>
                <a:spcPts val="0"/>
              </a:spcBef>
              <a:spcAft>
                <a:spcPts val="0"/>
              </a:spcAft>
              <a:buSzPct val="100000"/>
              <a:buChar char="●"/>
            </a:pPr>
            <a:r>
              <a:rPr lang="en"/>
              <a:t>Higher returns from ML-based models come with increased volatility, highlighting the importance of risk-adjusted evaluation.</a:t>
            </a:r>
            <a:endParaRPr/>
          </a:p>
          <a:p>
            <a:pPr indent="-280193" lvl="0" marL="457200" rtl="0" algn="l">
              <a:spcBef>
                <a:spcPts val="0"/>
              </a:spcBef>
              <a:spcAft>
                <a:spcPts val="0"/>
              </a:spcAft>
              <a:buSzPct val="100000"/>
              <a:buChar char="●"/>
            </a:pPr>
            <a:r>
              <a:rPr lang="en"/>
              <a:t>Overall, results suggest that systematic factor modeling (specially with nonlinear methods) can enhance long-term portfolio performance beyond traditional benchmarks.</a:t>
            </a:r>
            <a:endParaRPr/>
          </a:p>
          <a:p>
            <a:pPr indent="0" lvl="0" marL="0" rtl="0" algn="l">
              <a:spcBef>
                <a:spcPts val="1200"/>
              </a:spcBef>
              <a:spcAft>
                <a:spcPts val="0"/>
              </a:spcAft>
              <a:buNone/>
            </a:pPr>
            <a:r>
              <a:rPr lang="en"/>
              <a:t>Future Directions:</a:t>
            </a:r>
            <a:endParaRPr/>
          </a:p>
          <a:p>
            <a:pPr indent="-280193" lvl="0" marL="457200" rtl="0" algn="l">
              <a:spcBef>
                <a:spcPts val="1200"/>
              </a:spcBef>
              <a:spcAft>
                <a:spcPts val="0"/>
              </a:spcAft>
              <a:buSzPct val="100000"/>
              <a:buChar char="●"/>
            </a:pPr>
            <a:r>
              <a:rPr lang="en"/>
              <a:t>Reduce risk: Add simple rules to limit losses during large market downturns.</a:t>
            </a:r>
            <a:endParaRPr/>
          </a:p>
          <a:p>
            <a:pPr indent="-280193" lvl="0" marL="457200" rtl="0" algn="l">
              <a:spcBef>
                <a:spcPts val="0"/>
              </a:spcBef>
              <a:spcAft>
                <a:spcPts val="0"/>
              </a:spcAft>
              <a:buSzPct val="100000"/>
              <a:buChar char="●"/>
            </a:pPr>
            <a:r>
              <a:rPr lang="en"/>
              <a:t>Add more signals: Try including additional factors or basic momentum indicators.</a:t>
            </a:r>
            <a:endParaRPr/>
          </a:p>
          <a:p>
            <a:pPr indent="-280193" lvl="0" marL="457200" rtl="0" algn="l">
              <a:spcBef>
                <a:spcPts val="0"/>
              </a:spcBef>
              <a:spcAft>
                <a:spcPts val="0"/>
              </a:spcAft>
              <a:buSzPct val="100000"/>
              <a:buChar char="●"/>
            </a:pPr>
            <a:r>
              <a:rPr lang="en"/>
              <a:t>Understand the model: Look at which factors matter most for the XGBoost model.</a:t>
            </a:r>
            <a:endParaRPr/>
          </a:p>
          <a:p>
            <a:pPr indent="-280193" lvl="0" marL="457200" rtl="0" algn="l">
              <a:spcBef>
                <a:spcPts val="0"/>
              </a:spcBef>
              <a:spcAft>
                <a:spcPts val="0"/>
              </a:spcAft>
              <a:buSzPct val="100000"/>
              <a:buChar char="●"/>
            </a:pPr>
            <a:r>
              <a:rPr lang="en"/>
              <a:t>Test elsewhere: Apply the strategy to other markets or assets to see if it still works.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381" name="Google Shape;381;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
              <a:t>Rayhan</a:t>
            </a:r>
            <a:r>
              <a:rPr lang="en"/>
              <a:t> –</a:t>
            </a:r>
            <a:r>
              <a:rPr lang="en"/>
              <a:t> Co-developed the project idea with the team, aiming for a finance/fintech project that demonstrates end-to-end modeling and is strong for a resume (A). Led the Fama--French 5 Factors data pull/cleaning and ensured factor definitions and dates aligned with the rest of the pipeline (B). Completed key exploratory checks (time-series trends, outliers/boxplots) and produced several figures used in the analysis and results discussion (C, F). Built and evaluated the XGBoost modeling workflow, including feature construction, training/testing logic, and performance reporting, and helped integrate findings into the final write-up (D, E, G).</a:t>
            </a:r>
            <a:endParaRPr/>
          </a:p>
          <a:p>
            <a:pPr indent="0" lvl="0" marL="0" rtl="0" algn="l">
              <a:spcBef>
                <a:spcPts val="1200"/>
              </a:spcBef>
              <a:spcAft>
                <a:spcPts val="0"/>
              </a:spcAft>
              <a:buNone/>
            </a:pPr>
            <a:r>
              <a:rPr b="1" lang="en"/>
              <a:t>Govind</a:t>
            </a:r>
            <a:r>
              <a:rPr lang="en"/>
              <a:t> –</a:t>
            </a:r>
            <a:r>
              <a:rPr lang="en"/>
              <a:t> Co-developed the project idea with the team as a practical equity-factor/fintech-style study focused on portfolio-ready skills (A). Implemented the S&amp;P 500 universe construction (Wikipedia) and supported merging/clean alignment of the stock universe with factor and returns panels (B). Performed EDA focused on correlation structure and factor–return relationships to motivate modeling choices (C). Implemented the rolling-window Fama--French regression baseline (beta estimation and walk-forward prediction) and contributed comparative result analysis and figures for the report (D, E, F). Co-wrote methodology/results sections and helped polish the final report (G).</a:t>
            </a:r>
            <a:endParaRPr/>
          </a:p>
          <a:p>
            <a:pPr indent="0" lvl="0" marL="0" rtl="0" algn="l">
              <a:spcBef>
                <a:spcPts val="1200"/>
              </a:spcBef>
              <a:spcAft>
                <a:spcPts val="0"/>
              </a:spcAft>
              <a:buNone/>
            </a:pPr>
            <a:r>
              <a:rPr b="1" lang="en"/>
              <a:t>Chaithanya</a:t>
            </a:r>
            <a:r>
              <a:rPr lang="en"/>
              <a:t> – Co-developed the project idea with the team to build a finance/fintech project that highlights data engineering and ML validation skills (A). Constructed the monthly returns dataset using yfinance and ensured consistent resampling and date alignment across prices, returns, and factor series (B). Ran distribution diagnostics and pipeline sanity checks (missing data, ticker/month coverage, and transformation validation) and documented edge cases encountered during integration (C, H). Supported model evaluation by verifying split logic and reproducibility across reruns, and contributed figures/tables plus edits to the final conclusions and formatting (E, F, G).</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0"/>
          <p:cNvSpPr txBox="1"/>
          <p:nvPr>
            <p:ph type="title"/>
          </p:nvPr>
        </p:nvSpPr>
        <p:spPr>
          <a:xfrm>
            <a:off x="311700" y="17226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Thank</a:t>
            </a:r>
            <a:r>
              <a:rPr lang="en"/>
              <a:t> You!</a:t>
            </a:r>
            <a:endParaRPr/>
          </a:p>
        </p:txBody>
      </p:sp>
      <p:sp>
        <p:nvSpPr>
          <p:cNvPr id="387" name="Google Shape;387;p30"/>
          <p:cNvSpPr txBox="1"/>
          <p:nvPr>
            <p:ph idx="1" type="body"/>
          </p:nvPr>
        </p:nvSpPr>
        <p:spPr>
          <a:xfrm>
            <a:off x="333825" y="2336700"/>
            <a:ext cx="8520600" cy="470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